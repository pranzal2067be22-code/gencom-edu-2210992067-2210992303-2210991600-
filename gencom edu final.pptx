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6" r:id="rId21"/>
    <p:sldId id="273" r:id="rId11"/>
    <p:sldId id="274" r:id="rId12"/>
    <p:sldId id="275" r:id="rId13"/>
    <p:sldId id="277" r:id="rId22"/>
    <p:sldId id="278" r:id="rId23"/>
    <p:sldId id="279" r:id="rId24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oject_screenshot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reenshot_transcript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reenshot_chat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creenshot_analytics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GeoCom-Edu: A Generative Comic Framework for Lecture Summarization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Pranzal Yadav | Shivain Chhibber | Gursewak Bhatia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2210992067 | 2210992303 | 2210991600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pranzal2067.be22@chitkara.edu.in | shivain2303.be22@chitkara.edu.in | gursewak1600.be22@chitkara.edu.in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Chitkara University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Background &amp; Motivation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 education has expanded access to recorded lectures worldwide, but long 60-90 minute videos are difficult to navigate and retain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Traditional transcription tools convert speech to text with little support for comprehension or interaction</a:t>
            </a: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Students struggle to extract key concepts from unstructured lecture recordings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Existing AI tools are fragmented — transcription, summarization, and Q&amp;A exist in isolation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Most solutions depend on paid cloud APIs, raising privacy and cost concerns for students and institutions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learning aids are largely absent from current educational AI tools</a:t>
            </a: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About GeoCom-Edu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GeoCom-Edu is a fully offline, privacy-first AI platform that integrates ASR, NLP, RAG, and generative visualization into a single unified system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Developed as a Final Year B.E. CSE project at Chitkara University, Rajpura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Challenges Addressed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Overload: Students struggle to sift through 60-90 min lecture videos and retain key concepts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Disconnected Tooling: Existing tools handle transcription or summarization individually — no unified solution exists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Privacy and Cost: Most tools rely on paid cloud APIs, raising data privacy concerns and cost barriers for educational use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Lack of Visual Engagement: No tools automatically transform lecture content into interactive visual learning materials</a:t>
            </a: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Gap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Despite advances in speech recognition, NLP, and image generation individually, a lack of integrated offline solutions tailored for education remains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existing platform combines all four capabilities: transcription, summarization, context-aware Q&amp;A, and comic visualization in one offline system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Solution: GeoCom-Edu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modular, fully offline AI platform that transforms lecture videos into structured, interactive, and visually engaging learning material</a:t>
            </a: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Four-Layer Pipeline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ASR Layer: YouTube/video input processed via yt-dlp, transcribed using OpenAI Whisper with timestamps and multi-language support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NLP Layer: BERT-based topic segmentation divides lectures into sections; BART/PEGASUS generates concise summaries with keyword extraction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RAG Chatbot: FAISS vector database indexes segment embeddings; LLaMA 3 generates context-aware answers to student queries — fully offline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Comic Visualization: Stable Diffusion converts lecture summaries into illustrated comic panels to aid visual learners</a:t>
            </a: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 Stack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Backend: FastAPI orchestrates AI workflows and exposes REST API endpoints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Frontend: React.js single-page application with Transcript, Chat, and Comic tabs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Database: MongoDB stores transcripts, embeddings, and conversation history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41886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System Architecture Overview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follows a sequential modular pipeline: Input → ASR → NLP → RAG → Comic Visualization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module operates independently and can be updated or replaced without affecting the rest of the pipeline</a:t>
            </a:r>
          </a:p>
          <a:p>
            <a:pPr marL="457200" lvl="0" indent="-317500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Details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Module: Accepts YouTube URLs or local video files; yt-dlp extracts audio stream and converts to WAV format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ASR Module (Whisper): Transformer-based speech recognition produces timestamped transcript with high accuracy across accents and noise conditions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NLP Module: BERT embeddings segment the transcript by topic; BART/PEGASUS summarizes each segment; keywords extracted for FAISS indexing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RAG Chatbot (LLaMA 3 + FAISS): User queries matched to relevant transcript segments via cosine similarity; LLaMA 3 generates grounded responses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Comic Module (Stable Diffusion): Summary text converted to visual prompts; Stable Diffusion / ComfyUI renders illustrated panels per lecture segment</a:t>
            </a:r>
          </a:p>
          <a:p>
            <a:pPr marL="457200" lvl="0" indent="-317500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Infrastructure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Hardware used: Ryzen 7 (8 cores), 16 GB RAM, NVIDIA RTX 3060 | Software: Python 3.11, HuggingFace Transformers, FastAPI, React.js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83772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Features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Whisper ASR Transcription: Multi-language, noise-robust speech-to-text with timestamps; handles lectures up to 90 minutes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BERT/BART NLP Pipeline: Semantic topic segmentation followed by abstractive summarization and keyword extraction per segment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RAG-Powered Chatbot: FAISS similarity search retrieves relevant context; LLaMA 3 generates personalized, accurate answers offline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Stable Diffusion Comic Panels: Lecture summaries auto-converted to visual comic illustrations — boosts memory retention by up to 65% (cognitive science research)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Fully Offline and Private: Zero dependency on external APIs or cloud services; all models run locally ensuring data privacy and no subscription cost</a:t>
            </a: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Interface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Three-tab React.js interface: Document Analysis (timestamped transcript + keywords), RAG Interface (chat with lecture), Graphic Analytics (comic panels)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dashboard displays live metrics: ASR Accuracy, ROUGE-L Score, and Context Precision per session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686955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Quantitative Performance Metrics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ASR Accuracy (Whisper): 92.8% — tested on real university lecture recordings of 60-90 minutes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Summarization Quality (BART/PEGASUS): ROUGE-L Score of 0.86 — high relevance and coverage of key lecture concepts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RAG Chatbot Precision (LLaMA 3 / Groq): Context Match of 88.5% — correct and relevant answers to student queries</a:t>
            </a: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Qualitative Results (Student and Educator Feedback)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Greater comprehension of lecture material with structured summaries and visual panels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Significantly shorter time needed to revisit and locate important sections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Increased student engagement due to comic-style visual storytelling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Instructors found the platform valuable for adapting course content and supporting classroom activities</a:t>
            </a: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Advantage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GeoCom-Edu outperforms Otter.ai, ChatGPT, and Notion AI in: offline operation, lecture-focused design, RAG-based Q&amp;A, comic visualization, and data privacy (local storage)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&amp; Future Work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75518" y="342825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Regional Language Support: Expand ASR and NLP pipeline to Hindi and other Indian regional languages for broader accessibility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Adaptive Analytics: Monitor per-student comprehension levels and personalize content summaries dynamically for individual learners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Mobile Applications: Develop streamlined Android and iOS apps for on-the-go lecture access and offline study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Voice-Driven Chat: Enable real-time spoken questions with immediate visual comic responses — hands-free interaction mode</a:t>
            </a:r>
          </a:p>
          <a:p>
            <a:pPr marL="457200" lvl="0" indent="-317500">
              <a:buNone/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Comparison with Existing Tools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Offline Operation: GeoCom-Edu (Yes) vs Otter.ai (No) vs ChatGPT/Notion AI (No)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Lecture-Focused Design: GeoCom-Edu (Yes) vs Otter.ai (Partial) vs ChatGPT/Notion AI (No)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RAG-Based Q&amp;A on Lectures: GeoCom-Edu (Yes) vs Otter.ai (No) vs ChatGPT/Notion AI (Limited)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Comic Visualization: GeoCom-Edu (Yes) vs Otter.ai (No) vs ChatGPT/Notion AI (No)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Privacy (Local Storage): GeoCom-Edu (High) vs Otter.ai (Medium) vs ChatGPT/Notion AI (Medium)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52640" y="41886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Summary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GeoCom-Edu demonstrates how Generative AI can transcend automation to become a creative partner in education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fusing Whisper ASR, BERT/BART NLP, FAISS-based RAG, and Stable Diffusion into a single offline platform, the system transforms passive lecture consumption into active multi-modal learning</a:t>
            </a: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Impact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Students comprehend more, revisit content faster, and stay engaged through visual comic narratives — all without sacrificing data privacy or incurring cloud subscription costs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platform is scalable, affordable, and sustainable for educational institutions aiming to integrate AI technologies</a:t>
            </a:r>
          </a:p>
          <a:p>
            <a:pPr marL="457200" lvl="0" indent="-317500"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Contribution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First fully integrated, offline, privacy-oriented AI system combining speech recognition, NLP summarization, context-aware Q&amp;A, and generative comic visualization specifically designed for academic lecture content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Published as an IEEE conference paper by Pranzal Yadav, Shivain Chhibber, and Gursewak Bhatia — Department of CSE, Chitkara University, Rajpura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8229600" cy="7900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</a:rPr>
              <a:t>Project Demo — Application Screenshot</a:t>
            </a:r>
          </a:p>
        </p:txBody>
      </p:sp>
      <p:sp>
        <p:nvSpPr>
          <p:cNvPr id="3" name="SlideNum"/>
          <p:cNvSpPr txBox="1"/>
          <p:nvPr/>
        </p:nvSpPr>
        <p:spPr>
          <a:xfrm>
            <a:off x="8229600" y="0"/>
            <a:ext cx="457200" cy="7900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000" dirty="0">
                <a:latin typeface="Times New Roman" panose="02020603050405020304" pitchFamily="18" charset="0"/>
              </a:rPr>
              <a:t>7</a:t>
            </a:r>
          </a:p>
        </p:txBody>
      </p:sp>
      <p:pic>
        <p:nvPicPr>
          <p:cNvPr id="4" name="Project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0000"/>
            <a:ext cx="9085200" cy="5410000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sp>
        <p:nvSpPr>
          <p:cNvPr id="5" name="Caption"/>
          <p:cNvSpPr txBox="1"/>
          <p:nvPr/>
        </p:nvSpPr>
        <p:spPr>
          <a:xfrm>
            <a:off x="457200" y="6280000"/>
            <a:ext cx="8743200" cy="4300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1400" b="0" dirty="0">
                <a:solidFill>
                  <a:srgbClr val="555555"/>
                </a:solidFill>
                <a:latin typeface="Calibri" pitchFamily="34" charset="0"/>
              </a:rPr>
              <a:t>GeoCom-Edu React.js Interface — Comic Panels tab showing 4 AI-generated lecture story panels with live performance metrics (ASR: 92.8%, ROUGE-L: 0.86, Context Precision: 88.5%)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8229600" cy="7900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</a:rPr>
              <a:t>Screenshot 1 — Transcript Tab (Whisper ASR)</a:t>
            </a: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0000"/>
            <a:ext cx="9085200" cy="5410000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sp>
        <p:nvSpPr>
          <p:cNvPr id="5" name="Caption"/>
          <p:cNvSpPr txBox="1"/>
          <p:nvPr/>
        </p:nvSpPr>
        <p:spPr>
          <a:xfrm>
            <a:off x="457200" y="6280000"/>
            <a:ext cx="8743200" cy="4300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1400" b="0" dirty="0">
                <a:solidFill>
                  <a:srgbClr val="555555"/>
                </a:solidFill>
                <a:latin typeface="Calibri" pitchFamily="34" charset="0"/>
              </a:rPr>
              <a:t>Timestamped lecture transcript with 14 auto-segmented topic sections, keyword chips, and PDF/TXT/JSON export options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8229600" cy="7900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</a:rPr>
              <a:t>Screenshot 2 — RAG Chat Interface (LLaMA 3)</a:t>
            </a: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0000"/>
            <a:ext cx="9085200" cy="5410000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sp>
        <p:nvSpPr>
          <p:cNvPr id="5" name="Caption"/>
          <p:cNvSpPr txBox="1"/>
          <p:nvPr/>
        </p:nvSpPr>
        <p:spPr>
          <a:xfrm>
            <a:off x="457200" y="6280000"/>
            <a:ext cx="8743200" cy="4300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1400" b="0" dirty="0">
                <a:solidFill>
                  <a:srgbClr val="555555"/>
                </a:solidFill>
                <a:latin typeface="Calibri" pitchFamily="34" charset="0"/>
              </a:rPr>
              <a:t>Offline RAG-powered Q&amp;A: LLaMA 3 answers student questions grounded in FAISS-indexed lecture segments with source citations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Shape"/>
          <p:cNvSpPr txBox="1"/>
          <p:nvPr/>
        </p:nvSpPr>
        <p:spPr>
          <a:xfrm>
            <a:off x="457200" y="0"/>
            <a:ext cx="8229600" cy="7900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</a:rPr>
              <a:t>Screenshot 3 — Analytics Dashboard</a:t>
            </a:r>
          </a:p>
        </p:txBody>
      </p:sp>
      <p:pic>
        <p:nvPicPr>
          <p:cNvPr id="4" name="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20000"/>
            <a:ext cx="9085200" cy="5410000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sp>
        <p:nvSpPr>
          <p:cNvPr id="5" name="Caption"/>
          <p:cNvSpPr txBox="1"/>
          <p:nvPr/>
        </p:nvSpPr>
        <p:spPr>
          <a:xfrm>
            <a:off x="457200" y="6280000"/>
            <a:ext cx="8743200" cy="43000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1400" b="0" dirty="0">
                <a:solidFill>
                  <a:srgbClr val="555555"/>
                </a:solidFill>
                <a:latin typeface="Calibri" pitchFamily="34" charset="0"/>
              </a:rPr>
              <a:t>Live performance metrics (ASR 92.8%, ROUGE-L 0.86, Context Precision 88.5%) with segment duration chart and tool comparison table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34724</TotalTime>
  <Words>1351</Words>
  <Application>Microsoft Office PowerPoint</Application>
  <PresentationFormat>On-screen Show (4:3)</PresentationFormat>
  <Paragraphs>195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pranzal yadav</cp:lastModifiedBy>
  <cp:revision>2301</cp:revision>
  <dcterms:created xsi:type="dcterms:W3CDTF">2010-04-09T07:36:15Z</dcterms:created>
  <dcterms:modified xsi:type="dcterms:W3CDTF">2026-05-19T06:48:58Z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